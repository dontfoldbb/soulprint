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5676" y="1371600"/>
            <a:ext cx="3657600" cy="3657600"/>
          </a:xfrm>
          <a:prstGeom prst="ellipse">
            <a:avLst/>
          </a:prstGeom>
          <a:solidFill>
            <a:srgbClr val="16181D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28516" y="1325880"/>
            <a:ext cx="3931920" cy="3931920"/>
          </a:xfrm>
          <a:prstGeom prst="ellipse">
            <a:avLst/>
          </a:prstGeom>
          <a:solidFill>
            <a:srgbClr val="16181D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91356" y="1280160"/>
            <a:ext cx="4206240" cy="4206240"/>
          </a:xfrm>
          <a:prstGeom prst="ellipse">
            <a:avLst/>
          </a:prstGeom>
          <a:solidFill>
            <a:srgbClr val="16181D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54196" y="1234440"/>
            <a:ext cx="4480560" cy="4480560"/>
          </a:xfrm>
          <a:prstGeom prst="ellipse">
            <a:avLst/>
          </a:prstGeom>
          <a:solidFill>
            <a:srgbClr val="16181D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28716" y="3063240"/>
            <a:ext cx="731520" cy="731520"/>
          </a:xfrm>
          <a:prstGeom prst="ellipse">
            <a:avLst/>
          </a:prstGeom>
          <a:solidFill>
            <a:srgbClr val="5B93DE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5486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12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AI DOSSIER FOR YOUR WALLET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9377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Soulprint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0" y="58521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B9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once.  It evolves forever.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0" y="640080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Club × Somnia Agentathon  ·  Submission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5B93D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SOULPRINT</a:t>
            </a:r>
            <a:pPr indent="0" marL="0">
              <a:buNone/>
            </a:pPr>
            <a:r>
              <a:rPr lang="en-US" sz="1000" spc="4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000" spc="4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× Somnia Agentathon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25912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wallet has personality.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read it.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6858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history holds an identity in raw counters — transactions, deploys, NFT mints, gas spent. But it's locked in numbers no human reads, and no contract composes on.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Meanwhile most “AI on-chain” projects today are smoke and mirrors: they call Gemini or Groq off-chain and only settle the result on-chain. The AI isn't really on-chain.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0" y="1371600"/>
            <a:ext cx="3474720" cy="4572000"/>
          </a:xfrm>
          <a:prstGeom prst="roundRect">
            <a:avLst>
              <a:gd name="adj" fmla="val 2105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1600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20116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5B9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8412480" y="36576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primitives that compose on a wallet's identity today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0" y="49377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 MCP server, a gating contract,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asks “who is this?”)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5B93D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SOULPRINT</a:t>
            </a:r>
            <a:pPr indent="0" marL="0">
              <a:buNone/>
            </a:pPr>
            <a:r>
              <a:rPr lang="en-US" sz="1000" spc="4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000" spc="4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× Somnia Agentathon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25912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on-chain identity primitive,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on-chain AI agents.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411480" cy="411480"/>
          </a:xfrm>
          <a:prstGeom prst="ellipse">
            <a:avLst/>
          </a:prstGeom>
          <a:solidFill>
            <a:srgbClr val="16181D"/>
          </a:solidFill>
          <a:ln w="15875">
            <a:solidFill>
              <a:srgbClr val="5B93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9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3035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Soulprint at any wallet (yours or someone else's).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584448"/>
            <a:ext cx="411480" cy="411480"/>
          </a:xfrm>
          <a:prstGeom prst="ellipse">
            <a:avLst/>
          </a:prstGeom>
          <a:solidFill>
            <a:srgbClr val="16181D"/>
          </a:solidFill>
          <a:ln w="15875">
            <a:solidFill>
              <a:srgbClr val="5B93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584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9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602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Somnia JSON API agent reads its real on-chain activity.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151376"/>
            <a:ext cx="411480" cy="411480"/>
          </a:xfrm>
          <a:prstGeom prst="ellipse">
            <a:avLst/>
          </a:prstGeom>
          <a:solidFill>
            <a:srgbClr val="16181D"/>
          </a:solidFill>
          <a:ln w="15875">
            <a:solidFill>
              <a:srgbClr val="5B93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1513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9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4169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Somnia on-chain LLM (Qwen-3 30B, fixed seed, validator-consensus) writes a witty, structured dossier.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718304"/>
            <a:ext cx="411480" cy="411480"/>
          </a:xfrm>
          <a:prstGeom prst="ellipse">
            <a:avLst/>
          </a:prstGeom>
          <a:solidFill>
            <a:srgbClr val="16181D"/>
          </a:solidFill>
          <a:ln w="15875">
            <a:solidFill>
              <a:srgbClr val="5B93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7183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9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473659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mints as a soulbound NFT (ERC-5192). Can't be sold, can't be transferred.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85232"/>
            <a:ext cx="411480" cy="411480"/>
          </a:xfrm>
          <a:prstGeom prst="ellipse">
            <a:avLst/>
          </a:prstGeom>
          <a:solidFill>
            <a:srgbClr val="16181D"/>
          </a:solidFill>
          <a:ln w="15875">
            <a:solidFill>
              <a:srgbClr val="5B93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2852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9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53035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on-chain Cron keeps re-evaluating it — autonomously, forever.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126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9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 — about six seconds. AI executed by validators, output verified by consensus.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5B93DE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SOULPRINT</a:t>
            </a:r>
            <a:pPr indent="0" marL="0">
              <a:buNone/>
            </a:pPr>
            <a:r>
              <a:rPr lang="en-US" sz="1000" spc="4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000" spc="4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× Somnia Agentathon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25912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it. Now.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is live on Somnia Shannon testnet (chainId 50312).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26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9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soulprint-psi.vercel.app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749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a soulprint, look up any wallet.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274320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926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9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3246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github.com/DontFoldBB/soulprint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3749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repo. 47 Hardhat tests green.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617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9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SOULPRINT CONTRACT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4937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0x6876041cc67f9cd1b11e6e1827b13f3622d256e5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54406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ERC-721 + ERC-5192 soulbound, dynamic on-chain tokenURI.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443484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4617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9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SOULPRINTCRON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4937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0x0bf4e395ad3746632f86b5254fa18f0db3479d95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54406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Somnia Reactivity handler. Self-rescheduling autonomy.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5B93DE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SOULPRINT</a:t>
            </a:r>
            <a:pPr indent="0" marL="0">
              <a:buNone/>
            </a:pPr>
            <a:r>
              <a:rPr lang="en-US" sz="1000" spc="4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000" spc="4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× Somnia Agentathon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25912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two-step on-chain agent pipeline with a cost-gate in the middle, an autonomy loop above.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1091672" cy="4023360"/>
          </a:xfrm>
          <a:prstGeom prst="roundRect">
            <a:avLst>
              <a:gd name="adj" fmla="val 1818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78892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9864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read(wallet)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209544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STT self / 2 STT other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97480" y="3177540"/>
            <a:ext cx="594360" cy="0"/>
          </a:xfrm>
          <a:prstGeom prst="line">
            <a:avLst/>
          </a:prstGeom>
          <a:noFill/>
          <a:ln w="15875">
            <a:solidFill>
              <a:srgbClr val="5B93D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91840" y="278892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89864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API agent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209544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tx_count from explorer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74920" y="3177540"/>
            <a:ext cx="594360" cy="0"/>
          </a:xfrm>
          <a:prstGeom prst="line">
            <a:avLst/>
          </a:prstGeom>
          <a:noFill/>
          <a:ln w="15875">
            <a:solidFill>
              <a:srgbClr val="5B93D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669280" y="278892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89864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cost-gate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0" y="3209544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unchanged? skip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52360" y="3177540"/>
            <a:ext cx="594360" cy="0"/>
          </a:xfrm>
          <a:prstGeom prst="line">
            <a:avLst/>
          </a:prstGeom>
          <a:noFill/>
          <a:ln w="15875">
            <a:solidFill>
              <a:srgbClr val="5B93D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72400" y="278892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289864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3209544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Qwen-3 30B, consensus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555480" y="3177540"/>
            <a:ext cx="594360" cy="0"/>
          </a:xfrm>
          <a:prstGeom prst="line">
            <a:avLst/>
          </a:prstGeom>
          <a:noFill/>
          <a:ln w="15875">
            <a:solidFill>
              <a:srgbClr val="5B93D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058400" y="278892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0" y="289864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soulbound mint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0" y="3209544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ERC-5192 · dynamic URI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4400" y="4937760"/>
            <a:ext cx="10332720" cy="1097280"/>
          </a:xfrm>
          <a:prstGeom prst="roundRect">
            <a:avLst>
              <a:gd name="adj" fmla="val 6667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5074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9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SoulprintCron (Somnia Reactivity)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5394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scheduleSubscriptionAtTimestamp → tick → evolveBatch(N) → self-reschedule  ·  zero human tx between ticks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5B93DE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SOULPRINT</a:t>
            </a:r>
            <a:pPr indent="0" marL="0">
              <a:buNone/>
            </a:pPr>
            <a:r>
              <a:rPr lang="en-US" sz="1000" spc="4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000" spc="4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× Somnia Agentathon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25912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Soul Evolution System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visual evolution — derived from real activity, not from the LLM's mood.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9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algn="ctr" indent="0" marL="0">
              <a:buNone/>
            </a:pPr>
            <a:r>
              <a:rPr lang="en-US" sz="36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stages   ×   </a:t>
            </a:r>
            <a:pPr algn="ctr" indent="0" marL="0">
              <a:buNone/>
            </a:pPr>
            <a:r>
              <a:rPr lang="en-US" sz="3600" b="1" dirty="0">
                <a:solidFill>
                  <a:srgbClr val="5B9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algn="ctr" indent="0" marL="0">
              <a:buNone/>
            </a:pPr>
            <a:r>
              <a:rPr lang="en-US" sz="36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archetype lines   =   </a:t>
            </a:r>
            <a:pPr algn="ctr" indent="0" marL="0">
              <a:buNone/>
            </a:pPr>
            <a:r>
              <a:rPr lang="en-US" sz="3600" b="1" dirty="0">
                <a:solidFill>
                  <a:srgbClr val="F0B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spirit forms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886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→ 10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4343400"/>
            <a:ext cx="30632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Bucketed from on-chain tx_count. Stage 4 unlocks at 75 tx, Stage 7 at 2 000, Stage 10 at 200 000.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365760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3886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lookup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4343400"/>
            <a:ext cx="30632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(archetype × stage) maps to one of 30 distinct PNG spirit forms — Pathfinder Shade, Cartographer Spirit, DeFi Whale, Sybil Hydra, Onchain Legend…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365760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3886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83880" y="4343400"/>
            <a:ext cx="30632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stageOf / formIdOf / formSlugOf / evolutionOf are one-call reads. Stage + Form land in tokenURI traits — marketplaces and agents can index without parsing the dossier.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5B93DE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SOULPRINT</a:t>
            </a:r>
            <a:pPr indent="0" marL="0">
              <a:buNone/>
            </a:pPr>
            <a:r>
              <a:rPr lang="en-US" sz="1000" spc="4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000" spc="4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× Somnia Agentathon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25912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Prepaid Evolution Fuel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the “autonomous tick eats the project's reserve forever” problem on-chain.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486400" cy="3931920"/>
          </a:xfrm>
          <a:prstGeom prst="roundRect">
            <a:avLst>
              <a:gd name="adj" fmla="val 1860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146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reserve, drained forever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4937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 mint → autonomous evolution forever from the project's pocket.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100 active wallets ≈ 100 STT / day burn.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Owner can withdraw the reserve — no protection for funded evolutions.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286000"/>
            <a:ext cx="5486400" cy="3931920"/>
          </a:xfrm>
          <a:prstGeom prst="roundRect">
            <a:avLst>
              <a:gd name="adj" fmla="val 1860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5146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9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(LIVE)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0" y="2834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Per-soul fuel · anyone can keep a soul alive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3566160"/>
            <a:ext cx="4937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Mint earmarks INITIAL_FUEL_GRANT (0.4 STT ≈ 1 evolution) into the token's evoBalance.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Each successful re-evolution deducts EVOLUTION_COST. Out of fuel → soul freezes (EvolutionPaused).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ANYONE can call topUpEvolution(tokenId) — owner, fan, patron contract. STT locks per-token; owner cannot withdraw it (gated by availableForWithdraw, totalReserved is sacred).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9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a soul alive becomes a public good.  Boost a friend. Boost a stranger.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5B93DE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SOULPRINT</a:t>
            </a:r>
            <a:pPr indent="0" marL="0">
              <a:buNone/>
            </a:pPr>
            <a:r>
              <a:rPr lang="en-US" sz="1000" spc="4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000" spc="4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× Somnia Agentathon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25912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— proven live on-chain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criterion #4 · Autonomous Performance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029200" cy="4023360"/>
          </a:xfrm>
          <a:prstGeom prst="roundRect">
            <a:avLst>
              <a:gd name="adj" fmla="val 1818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603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5B9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600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ticks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previous live cron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349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 evolutions   ·   </a:t>
            </a:r>
            <a:pPr algn="ctr" indent="0" marL="0">
              <a:buNone/>
            </a:pPr>
            <a:r>
              <a:rPr lang="en-US" sz="1300" b="1" dirty="0">
                <a:solidFill>
                  <a:srgbClr val="F0B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cost-gated skips   ·   </a:t>
            </a:r>
            <a:pPr algn="ctr" indent="0" marL="0">
              <a:buNone/>
            </a:pPr>
            <a:r>
              <a:rPr lang="en-US" sz="1300" b="1" dirty="0">
                <a:solidFill>
                  <a:srgbClr val="F0B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human tx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2160" y="246888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52160" y="27889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SoulprintCron is a Somnia Reactivity SomniaEventHandler.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52160" y="3246120"/>
            <a:ext cx="5852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 each scheduled tick the handler calls Soulprint.evolveBatch() and then schedules the next tick — inside the same handler. The chain ticks the contract for us, on time, forever.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Sender of every tick is the Reactivity precompile (address 0x…0100). The contract owner's address has zero outgoing tx to the cron — fully verifiable on the explorer.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Fresh cron at 0x0bf4… is armed now; same code as the proven one — criterion holds.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5B93DE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SOULPRINT</a:t>
            </a:r>
            <a:pPr indent="0" marL="0">
              <a:buNone/>
            </a:pPr>
            <a:r>
              <a:rPr lang="en-US" sz="1000" spc="4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000" spc="4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× Somnia Agentathon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25912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Agent-first composability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criterion #2 · the Soulprint is a primitive, not an end-product NFT.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060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9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ONE-CALL READS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profileOf(addr)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traitsOf(addr)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evolutionOf(addr)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evolutionFuel(tokenId)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572000"/>
            <a:ext cx="30632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contract or agent gets a wallet's Soulprint in one read — dossier, archetype, activity score, stage + form, fuel state.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237744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6060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9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0" y="301752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mcp/dist/index.js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get_soulprint(wallet)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0" y="4572000"/>
            <a:ext cx="30632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server exposes the Soulprint to any AI agent over a standard protocol. Read-only, no key.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237744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26060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9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EXAMPLEGATE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83880" y="301752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ExampleGate.enter()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require(activityScore &gt;= N)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83880" y="4572000"/>
            <a:ext cx="30632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contract gates access on Soulprint activity. Reputation that can't be bought, transferred, or faked.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5B93DE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SOULPRINT</a:t>
            </a:r>
            <a:pPr indent="0" marL="0">
              <a:buNone/>
            </a:pPr>
            <a:r>
              <a:rPr lang="en-US" sz="1000" spc="4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000" spc="4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× Somnia Agentathon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25912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map to the 4 judging criteria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5B93D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1945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3040" y="2606040"/>
            <a:ext cx="4389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Somnia testnet. read → AI → soulbound mint pipeline runs end-to-end in ~6 s. 47 Hardhat tests green.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2148840"/>
            <a:ext cx="502920" cy="502920"/>
          </a:xfrm>
          <a:prstGeom prst="ellipse">
            <a:avLst/>
          </a:prstGeom>
          <a:solidFill>
            <a:srgbClr val="5B93DE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23760" y="21945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AGENT-FIRST DESIGN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23760" y="2606040"/>
            <a:ext cx="4389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TWO Somnia base agents (JSON API + LLM) per pipeline. profileOf / traitsOf / evolutionOf / evolutionFuel for any contract to read. MCP server + ExampleGate as live consumers.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617720"/>
            <a:ext cx="502920" cy="502920"/>
          </a:xfrm>
          <a:prstGeom prst="ellipse">
            <a:avLst/>
          </a:prstGeom>
          <a:solidFill>
            <a:srgbClr val="5B93D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663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TECHNICAL CREATIVITY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63040" y="5074920"/>
            <a:ext cx="4389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on-chain inference (not off-chain). Chained read→reason agent pipeline. Soulbound IDENTITY (not collectible). On-chain dynamic tokenURI. Cost-gated evolution. 30-form Soul Evolution. Prepaid Evolution Fuel.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438912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4617720"/>
            <a:ext cx="502920" cy="502920"/>
          </a:xfrm>
          <a:prstGeom prst="ellipse">
            <a:avLst/>
          </a:prstGeom>
          <a:solidFill>
            <a:srgbClr val="5B93DE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3760" y="4663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PERFORMANCE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23760" y="5074920"/>
            <a:ext cx="4389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SoulprintCron self-reschedules INSIDE the handler. ticks() rises, subscriptionId re-arms, zero human tx between ticks. Previous cron: 35 ticks → 2 real evolutions, all verifiable on explorer.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5B93D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SOULPRINT</a:t>
            </a:r>
            <a:pPr indent="0" marL="0">
              <a:buNone/>
            </a:pPr>
            <a:r>
              <a:rPr lang="en-US" sz="1000" spc="4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000" spc="4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× Somnia Agentathon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25912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numbers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402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B9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Hardhat tests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210312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22402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B9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788920" y="30632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 PNG forms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210312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2402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B9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5029200" y="30632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stages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210312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22402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B9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~6s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7269480" y="30632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mint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509760" y="210312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16181D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0" y="22402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B9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9509760" y="30632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tx per evolution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023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2635758" cy="411480"/>
          </a:xfrm>
          <a:prstGeom prst="roundRect">
            <a:avLst>
              <a:gd name="adj" fmla="val 13333"/>
            </a:avLst>
          </a:prstGeom>
          <a:solidFill>
            <a:srgbClr val="16181D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434840"/>
            <a:ext cx="26357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0.8.30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21558" y="4434840"/>
            <a:ext cx="2635758" cy="411480"/>
          </a:xfrm>
          <a:prstGeom prst="roundRect">
            <a:avLst>
              <a:gd name="adj" fmla="val 13333"/>
            </a:avLst>
          </a:prstGeom>
          <a:solidFill>
            <a:srgbClr val="16181D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1558" y="4434840"/>
            <a:ext cx="26357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OpenZeppelin v5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94476" y="4434840"/>
            <a:ext cx="2635758" cy="411480"/>
          </a:xfrm>
          <a:prstGeom prst="roundRect">
            <a:avLst>
              <a:gd name="adj" fmla="val 13333"/>
            </a:avLst>
          </a:prstGeom>
          <a:solidFill>
            <a:srgbClr val="16181D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94476" y="4434840"/>
            <a:ext cx="26357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ERC-721 + ERC-5192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67394" y="4434840"/>
            <a:ext cx="2635758" cy="411480"/>
          </a:xfrm>
          <a:prstGeom prst="roundRect">
            <a:avLst>
              <a:gd name="adj" fmla="val 13333"/>
            </a:avLst>
          </a:prstGeom>
          <a:solidFill>
            <a:srgbClr val="16181D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7394" y="4434840"/>
            <a:ext cx="26357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viaIR · cancun EVM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983480"/>
            <a:ext cx="2635758" cy="411480"/>
          </a:xfrm>
          <a:prstGeom prst="roundRect">
            <a:avLst>
              <a:gd name="adj" fmla="val 13333"/>
            </a:avLst>
          </a:prstGeom>
          <a:solidFill>
            <a:srgbClr val="16181D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983480"/>
            <a:ext cx="26357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Hardhat + viem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21558" y="4983480"/>
            <a:ext cx="2635758" cy="411480"/>
          </a:xfrm>
          <a:prstGeom prst="roundRect">
            <a:avLst>
              <a:gd name="adj" fmla="val 13333"/>
            </a:avLst>
          </a:prstGeom>
          <a:solidFill>
            <a:srgbClr val="16181D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21558" y="4983480"/>
            <a:ext cx="26357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Somnia Agents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94476" y="4983480"/>
            <a:ext cx="2635758" cy="411480"/>
          </a:xfrm>
          <a:prstGeom prst="roundRect">
            <a:avLst>
              <a:gd name="adj" fmla="val 13333"/>
            </a:avLst>
          </a:prstGeom>
          <a:solidFill>
            <a:srgbClr val="16181D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94476" y="4983480"/>
            <a:ext cx="26357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Somnia Reactivity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867394" y="4983480"/>
            <a:ext cx="2635758" cy="411480"/>
          </a:xfrm>
          <a:prstGeom prst="roundRect">
            <a:avLst>
              <a:gd name="adj" fmla="val 13333"/>
            </a:avLst>
          </a:prstGeom>
          <a:solidFill>
            <a:srgbClr val="16181D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67394" y="4983480"/>
            <a:ext cx="26357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Qwen-3 30B (on-chain)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5532120"/>
            <a:ext cx="2635758" cy="411480"/>
          </a:xfrm>
          <a:prstGeom prst="roundRect">
            <a:avLst>
              <a:gd name="adj" fmla="val 13333"/>
            </a:avLst>
          </a:prstGeom>
          <a:solidFill>
            <a:srgbClr val="16181D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5532120"/>
            <a:ext cx="26357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321558" y="5532120"/>
            <a:ext cx="2635758" cy="411480"/>
          </a:xfrm>
          <a:prstGeom prst="roundRect">
            <a:avLst>
              <a:gd name="adj" fmla="val 13333"/>
            </a:avLst>
          </a:prstGeom>
          <a:solidFill>
            <a:srgbClr val="16181D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21558" y="5532120"/>
            <a:ext cx="26357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· Turbopack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94476" y="5532120"/>
            <a:ext cx="2635758" cy="411480"/>
          </a:xfrm>
          <a:prstGeom prst="roundRect">
            <a:avLst>
              <a:gd name="adj" fmla="val 13333"/>
            </a:avLst>
          </a:prstGeom>
          <a:solidFill>
            <a:srgbClr val="16181D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94476" y="5532120"/>
            <a:ext cx="26357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867394" y="5532120"/>
            <a:ext cx="2635758" cy="411480"/>
          </a:xfrm>
          <a:prstGeom prst="roundRect">
            <a:avLst>
              <a:gd name="adj" fmla="val 13333"/>
            </a:avLst>
          </a:prstGeom>
          <a:solidFill>
            <a:srgbClr val="16181D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67394" y="5532120"/>
            <a:ext cx="26357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5.7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5B93DE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2468880"/>
            <a:ext cx="2011680" cy="2011680"/>
          </a:xfrm>
          <a:prstGeom prst="ellipse">
            <a:avLst/>
          </a:prstGeom>
          <a:solidFill>
            <a:srgbClr val="16181D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0" y="2423160"/>
            <a:ext cx="2194560" cy="2194560"/>
          </a:xfrm>
          <a:prstGeom prst="ellipse">
            <a:avLst/>
          </a:prstGeom>
          <a:solidFill>
            <a:srgbClr val="16181D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2377440"/>
            <a:ext cx="2377440" cy="2377440"/>
          </a:xfrm>
          <a:prstGeom prst="ellipse">
            <a:avLst/>
          </a:prstGeom>
          <a:solidFill>
            <a:srgbClr val="16181D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3291840"/>
            <a:ext cx="365760" cy="365760"/>
          </a:xfrm>
          <a:prstGeom prst="ellipse">
            <a:avLst/>
          </a:prstGeom>
          <a:solidFill>
            <a:srgbClr val="5B93D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Soulprint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composable identity primitive other agents read.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Cost-bounded by design.   Soulbound.   Self-evolving.   Live on Somnia.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4572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5B9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once.  It evolves forever.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github.com/DontFoldBB/soulprint   ·   soulprint-psi.vercel.app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5B93D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Soulprint — Encode × Somnia Agentathon</dc:title>
  <dc:subject>PptxGenJS Presentation</dc:subject>
  <dc:creator>Soulprint</dc:creator>
  <cp:lastModifiedBy>Soulprint</cp:lastModifiedBy>
  <cp:revision>1</cp:revision>
  <dcterms:created xsi:type="dcterms:W3CDTF">2026-05-26T18:17:28Z</dcterms:created>
  <dcterms:modified xsi:type="dcterms:W3CDTF">2026-05-26T18:17:28Z</dcterms:modified>
</cp:coreProperties>
</file>